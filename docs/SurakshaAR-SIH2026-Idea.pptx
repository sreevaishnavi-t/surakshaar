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ct val="200000"/>
              </a:lnSpc>
              <a:spcBef>
                <a:spcPts val="1000"/>
              </a:spcBef>
              <a:buNone/>
            </a:pPr>
            <a:r>
              <a:rPr lang="en-US" sz="1500" b="1" dirty="0" u="none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1500" b="0" dirty="0" u="none">
                <a:latin typeface="Arial" panose="020B0604020202020204" pitchFamily="34" charset="0"/>
                <a:cs typeface="Arial" panose="020B0604020202020204" pitchFamily="34" charset="0"/>
              </a:rPr>
              <a:t>«from SIH portal»</a:t>
            </a:r>
          </a:p>
          <a:p>
            <a:pPr marL="0" indent="0" algn="l">
              <a:lnSpc>
                <a:spcPct val="200000"/>
              </a:lnSpc>
              <a:spcBef>
                <a:spcPts val="1000"/>
              </a:spcBef>
              <a:buNone/>
            </a:pPr>
            <a:r>
              <a:rPr lang="en-US" sz="1500" b="1" dirty="0" u="none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1500" b="0" dirty="0" u="none">
                <a:latin typeface="Arial" panose="020B0604020202020204" pitchFamily="34" charset="0"/>
                <a:cs typeface="Arial" panose="020B0604020202020204" pitchFamily="34" charset="0"/>
              </a:rPr>
              <a:t>AR-Based Vocational Training Simulator for Industrial Safety in Jharkhand’s Mining &amp; Manufacturing Sector</a:t>
            </a:r>
          </a:p>
          <a:p>
            <a:pPr marL="0" indent="0" algn="l">
              <a:lnSpc>
                <a:spcPct val="200000"/>
              </a:lnSpc>
              <a:spcBef>
                <a:spcPts val="1000"/>
              </a:spcBef>
              <a:buNone/>
            </a:pPr>
            <a:r>
              <a:rPr lang="en-US" sz="1500" b="1" dirty="0" u="none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US" sz="1500" b="0" dirty="0" u="none"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</a:p>
          <a:p>
            <a:pPr marL="0" indent="0" algn="l">
              <a:lnSpc>
                <a:spcPct val="200000"/>
              </a:lnSpc>
              <a:spcBef>
                <a:spcPts val="1000"/>
              </a:spcBef>
              <a:buNone/>
            </a:pPr>
            <a:r>
              <a:rPr lang="en-US" sz="1500" b="1" dirty="0" u="none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1500" b="0" dirty="0" u="none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0" indent="0" algn="l">
              <a:lnSpc>
                <a:spcPct val="200000"/>
              </a:lnSpc>
              <a:spcBef>
                <a:spcPts val="1000"/>
              </a:spcBef>
              <a:buNone/>
            </a:pPr>
            <a:r>
              <a:rPr lang="en-US" sz="1500" b="1" dirty="0" u="none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lang="en-US" sz="1500" b="0" dirty="0" u="none">
                <a:latin typeface="Arial" panose="020B0604020202020204" pitchFamily="34" charset="0"/>
                <a:cs typeface="Arial" panose="020B0604020202020204" pitchFamily="34" charset="0"/>
              </a:rPr>
              <a:t>«from SIH portal»</a:t>
            </a:r>
          </a:p>
          <a:p>
            <a:pPr marL="0" indent="0" algn="l">
              <a:lnSpc>
                <a:spcPct val="200000"/>
              </a:lnSpc>
              <a:spcBef>
                <a:spcPts val="1000"/>
              </a:spcBef>
              <a:buNone/>
            </a:pPr>
            <a:r>
              <a:rPr lang="en-US" sz="1500" b="1" dirty="0" u="none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1500" b="0" dirty="0" u="none">
                <a:latin typeface="Arial" panose="020B0604020202020204" pitchFamily="34" charset="0"/>
                <a:cs typeface="Arial" panose="020B0604020202020204" pitchFamily="34" charset="0"/>
              </a:rPr>
              <a:t>Technova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8458200" cy="1051560"/>
          </a:xfrm>
        </p:spPr>
        <p:txBody>
          <a:bodyPr/>
          <a:lstStyle/>
          <a:p>
            <a:pPr eaLnBrk="1" hangingPunct="1" marL="0" indent="0" algn="l">
              <a:buNone/>
            </a:pP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 u="none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SURAKSHAAR — OFFLINE AR SAFETY TRAINING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66928" y="1417320"/>
            <a:ext cx="5358384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/>
          <a:lstStyle/>
          <a:p>
            <a:pPr marL="0" indent="0" algn="l">
              <a:buNone/>
            </a:pPr>
            <a:r>
              <a:rPr lang="en-US" sz="1900" b="1" u="none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What it is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182880" indent="-182880" algn="l">
              <a:spcBef>
                <a:spcPts val="900"/>
              </a:spcBef>
              <a:buFont typeface="Arial" pitchFamily="34" charset="0"/>
              <a:buChar char="•"/>
            </a:pPr>
            <a:r>
              <a:rPr lang="en-US" sz="1400" b="0" u="none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An offline AR safety-training and certification platform running on any Android 10+ phone — no headset, no ARCore, no internet at any point.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182880" indent="-182880" algn="l">
              <a:spcBef>
                <a:spcPts val="700"/>
              </a:spcBef>
              <a:buFont typeface="Arial" pitchFamily="34" charset="0"/>
              <a:buChar char="•"/>
            </a:pPr>
            <a:r>
              <a:rPr lang="en-US" sz="1400" b="0" u="none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The worker sweeps the phone across their workplace; the app finds the floor, the clear space and real doorways, then builds a mine gallery fitted to that room.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182880" indent="-182880" algn="l">
              <a:spcBef>
                <a:spcPts val="700"/>
              </a:spcBef>
              <a:buFont typeface="Arial" pitchFamily="34" charset="0"/>
              <a:buChar char="•"/>
            </a:pPr>
            <a:r>
              <a:rPr lang="en-US" sz="1400" b="0" u="none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Five DGMS-aligned domains: Fire &amp; Explosion, Gas Leak &amp; Confined Space, Machinery &amp; Lockout-Tagout, Roof Fall &amp; Working at Height, Electrical &amp; First Aid.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182880" indent="-182880" algn="l">
              <a:spcBef>
                <a:spcPts val="700"/>
              </a:spcBef>
              <a:buFont typeface="Arial" pitchFamily="34" charset="0"/>
              <a:buChar char="•"/>
            </a:pPr>
            <a:r>
              <a:rPr lang="en-US" sz="1400" b="0" u="none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Drills score what the worker does under time pressure — action sequencing, reaction time, PPE selection — not attendance.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362" name="TextBox 8 Right"/>
          <p:cNvSpPr txBox="1">
            <a:spLocks noChangeArrowheads="1"/>
          </p:cNvSpPr>
          <p:nvPr/>
        </p:nvSpPr>
        <p:spPr bwMode="auto">
          <a:xfrm>
            <a:off x="6263640" y="1417320"/>
            <a:ext cx="5358384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/>
          <a:lstStyle/>
          <a:p>
            <a:pPr marL="0" indent="0" algn="l">
              <a:buNone/>
            </a:pPr>
            <a:r>
              <a:rPr lang="en-US" sz="1900" b="1" u="none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Why it is different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182880" indent="-182880" algn="l">
              <a:spcBef>
                <a:spcPts val="900"/>
              </a:spcBef>
              <a:buFont typeface="Arial" pitchFamily="34" charset="0"/>
              <a:buChar char="•"/>
            </a:pPr>
            <a:r>
              <a:rPr lang="en-US" sz="1400" b="0" u="none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Runs on the low-cost handset a contract worker already carries. ARCore-based AR needs certified hardware most budget phones do not have.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182880" indent="-182880" algn="l">
              <a:spcBef>
                <a:spcPts val="700"/>
              </a:spcBef>
              <a:buFont typeface="Arial" pitchFamily="34" charset="0"/>
              <a:buChar char="•"/>
            </a:pPr>
            <a:r>
              <a:rPr lang="en-US" sz="1400" b="0" u="none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The certificate is a cryptographically signed QR code any inspector can verify offline, on a fresh install, with no account and no network.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182880" indent="-182880" algn="l">
              <a:spcBef>
                <a:spcPts val="700"/>
              </a:spcBef>
              <a:buFont typeface="Arial" pitchFamily="34" charset="0"/>
              <a:buChar char="•"/>
            </a:pPr>
            <a:r>
              <a:rPr lang="en-US" sz="1400" b="0" u="none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Audio-first throughout, so a worker who reads slowly or not at all can still run the drill. English ships today; the string layer is script-agnostic and Hindi and Santali (Ol Chiki) are the next translation pass.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182880" indent="-182880" algn="l">
              <a:spcBef>
                <a:spcPts val="700"/>
              </a:spcBef>
              <a:buFont typeface="Arial" pitchFamily="34" charset="0"/>
              <a:buChar char="•"/>
            </a:pPr>
            <a:r>
              <a:rPr lang="en-US" sz="1400" b="0" u="none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Genuinely offline end to end — exercised in airplane mode; no worker data ever leaves the handset.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182880" indent="-182880" algn="l">
              <a:spcBef>
                <a:spcPts val="700"/>
              </a:spcBef>
              <a:buFont typeface="Arial" pitchFamily="34" charset="0"/>
              <a:buChar char="•"/>
            </a:pPr>
            <a:r>
              <a:rPr lang="en-US" sz="1400" b="0" u="none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 working release APK backed by 189 automated tests, not a mock-up.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Technova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8458200" cy="1051560"/>
          </a:xfrm>
        </p:spPr>
        <p:txBody>
          <a:bodyPr/>
          <a:lstStyle/>
          <a:p>
            <a:pPr eaLnBrk="1" hangingPunct="1" marL="0" indent="0" algn="l">
              <a:buNone/>
            </a:pPr>
            <a:r>
              <a:rPr lang="en-US" sz="3400" b="1" dirty="0" u="none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66928" y="1417320"/>
            <a:ext cx="5358384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/>
          <a:lstStyle/>
          <a:p>
            <a:pPr marL="0" indent="0" algn="l">
              <a:buNone/>
            </a:pPr>
            <a:r>
              <a:rPr lang="en-US" sz="1900" dirty="0" b="1" u="none">
                <a:latin typeface="Arial" pitchFamily="34" charset="0"/>
                <a:cs typeface="Arial" pitchFamily="34" charset="0"/>
              </a:rPr>
              <a:t>Platform and stack</a:t>
            </a:r>
          </a:p>
          <a:p>
            <a:pPr marL="182880" indent="-182880" algn="l">
              <a:spcBef>
                <a:spcPts val="900"/>
              </a:spcBef>
              <a:buFont typeface="Arial" pitchFamily="34" charset="0"/>
              <a:buChar char="•"/>
            </a:pPr>
            <a:r>
              <a:rPr lang="en-US" sz="1400" dirty="0" b="0" u="none">
                <a:latin typeface="Arial" pitchFamily="34" charset="0"/>
                <a:cs typeface="Arial" pitchFamily="34" charset="0"/>
              </a:rPr>
              <a:t>Flutter 3.44 / Dart — one Android APK, minSdk 29 (Android 10 and above).</a:t>
            </a:r>
          </a:p>
          <a:p>
            <a:pPr marL="182880" indent="-182880" algn="l">
              <a:spcBef>
                <a:spcPts val="700"/>
              </a:spcBef>
              <a:buFont typeface="Arial" pitchFamily="34" charset="0"/>
              <a:buChar char="•"/>
            </a:pPr>
            <a:r>
              <a:rPr lang="en-US" sz="1400" dirty="0" b="0" u="none">
                <a:latin typeface="Arial" pitchFamily="34" charset="0"/>
                <a:cs typeface="Arial" pitchFamily="34" charset="0"/>
              </a:rPr>
              <a:t>Kotlin platform channel reading TYPE_GAME_ROTATION_VECTOR: gyroscope plus accelerometer, magnetometer deliberately excluded because magnetic heading is unusable underground and beside steel-plant motors.</a:t>
            </a:r>
          </a:p>
          <a:p>
            <a:pPr marL="182880" indent="-182880" algn="l">
              <a:spcBef>
                <a:spcPts val="700"/>
              </a:spcBef>
              <a:buFont typeface="Arial" pitchFamily="34" charset="0"/>
              <a:buChar char="•"/>
            </a:pPr>
            <a:r>
              <a:rPr lang="en-US" sz="1400" dirty="0" b="0" u="none">
                <a:latin typeface="Arial" pitchFamily="34" charset="0"/>
                <a:cs typeface="Arial" pitchFamily="34" charset="0"/>
              </a:rPr>
              <a:t>Madgwick AHRS filter in Dart as the fallback for handsets with no fused sensor.</a:t>
            </a:r>
          </a:p>
          <a:p>
            <a:pPr marL="182880" indent="-182880" algn="l">
              <a:spcBef>
                <a:spcPts val="700"/>
              </a:spcBef>
              <a:buFont typeface="Arial" pitchFamily="34" charset="0"/>
              <a:buChar char="•"/>
            </a:pPr>
            <a:r>
              <a:rPr lang="en-US" sz="1400" dirty="0" b="0" u="none">
                <a:latin typeface="Arial" pitchFamily="34" charset="0"/>
                <a:cs typeface="Arial" pitchFamily="34" charset="0"/>
              </a:rPr>
              <a:t>Camera2 lens metadata gives the true field of view, so overlays stay aligned instead of sliding as the worker turns.</a:t>
            </a:r>
          </a:p>
          <a:p>
            <a:pPr marL="182880" indent="-182880" algn="l">
              <a:spcBef>
                <a:spcPts val="700"/>
              </a:spcBef>
              <a:buFont typeface="Arial" pitchFamily="34" charset="0"/>
              <a:buChar char="•"/>
            </a:pPr>
            <a:r>
              <a:rPr lang="en-US" sz="1400" dirty="0" b="0" u="none">
                <a:latin typeface="Arial" pitchFamily="34" charset="0"/>
                <a:cs typeface="Arial" pitchFamily="34" charset="0"/>
              </a:rPr>
              <a:t>SQLite on the phone, with signed record bundles as the export format. The supervisor dashboard that consumes them is specified and not yet built; the bundle is what the phone already produces.</a:t>
            </a:r>
          </a:p>
        </p:txBody>
      </p:sp>
      <p:sp>
        <p:nvSpPr>
          <p:cNvPr id="17410" name="TextBox 8 Right"/>
          <p:cNvSpPr txBox="1">
            <a:spLocks noChangeArrowheads="1"/>
          </p:cNvSpPr>
          <p:nvPr/>
        </p:nvSpPr>
        <p:spPr bwMode="auto">
          <a:xfrm>
            <a:off x="6263640" y="1417320"/>
            <a:ext cx="5358384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/>
          <a:lstStyle/>
          <a:p>
            <a:pPr marL="0" indent="0" algn="l">
              <a:buNone/>
            </a:pPr>
            <a:r>
              <a:rPr lang="en-US" sz="1900" dirty="0" b="1" u="none">
                <a:latin typeface="Arial" pitchFamily="34" charset="0"/>
                <a:cs typeface="Arial" pitchFamily="34" charset="0"/>
              </a:rPr>
              <a:t>How the AR works</a:t>
            </a:r>
          </a:p>
          <a:p>
            <a:pPr marL="182880" indent="-182880" algn="l">
              <a:spcBef>
                <a:spcPts val="900"/>
              </a:spcBef>
              <a:buFont typeface="Arial" pitchFamily="34" charset="0"/>
              <a:buChar char="•"/>
            </a:pPr>
            <a:r>
              <a:rPr lang="en-US" sz="1400" dirty="0" b="0" u="none">
                <a:latin typeface="Arial" pitchFamily="34" charset="0"/>
                <a:cs typeface="Arial" pitchFamily="34" charset="0"/>
              </a:rPr>
              <a:t>Gravity-referenced pose makes the floor plane known rather than estimated — only the camera height has to be measured.</a:t>
            </a:r>
          </a:p>
          <a:p>
            <a:pPr marL="182880" indent="-182880" algn="l">
              <a:spcBef>
                <a:spcPts val="700"/>
              </a:spcBef>
              <a:buFont typeface="Arial" pitchFamily="34" charset="0"/>
              <a:buChar char="•"/>
            </a:pPr>
            <a:r>
              <a:rPr lang="en-US" sz="1400" dirty="0" b="0" u="none">
                <a:latin typeface="Arial" pitchFamily="34" charset="0"/>
                <a:cs typeface="Arial" pitchFamily="34" charset="0"/>
              </a:rPr>
              <a:t>Room sensing: each camera frame is reduced to a 32×64 grid and traced upward from the worker’s feet, using brightness and texture together so a grey wall above a grey floor is still detected. Tall rather than square on purpose: rows are what set how precisely a doorway can be measured.</a:t>
            </a:r>
          </a:p>
          <a:p>
            <a:pPr marL="182880" indent="-182880" algn="l">
              <a:spcBef>
                <a:spcPts val="700"/>
              </a:spcBef>
              <a:buFont typeface="Arial" pitchFamily="34" charset="0"/>
              <a:buChar char="•"/>
            </a:pPr>
            <a:r>
              <a:rPr lang="en-US" sz="1400" dirty="0" b="0" u="none">
                <a:latin typeface="Arial" pitchFamily="34" charset="0"/>
                <a:cs typeface="Arial" pitchFamily="34" charset="0"/>
              </a:rPr>
              <a:t>Door detection without machine learning: vertical edge pairs meeting the floor are accepted only if they measure about 0.9 m by 2 m in real metres. Geometry does the semantic filtering, so no model weights ship in the APK.</a:t>
            </a:r>
          </a:p>
          <a:p>
            <a:pPr marL="182880" indent="-182880" algn="l">
              <a:spcBef>
                <a:spcPts val="700"/>
              </a:spcBef>
              <a:buFont typeface="Arial" pitchFamily="34" charset="0"/>
              <a:buChar char="•"/>
            </a:pPr>
            <a:r>
              <a:rPr lang="en-US" sz="1400" dirty="0" b="0" u="none">
                <a:latin typeface="Arial" pitchFamily="34" charset="0"/>
                <a:cs typeface="Arial" pitchFamily="34" charset="0"/>
              </a:rPr>
              <a:t>All content is procedural vector art — no 3D assets, no licensing risk, and a steady frame rate on mid-range hardware.</a:t>
            </a:r>
          </a:p>
          <a:p>
            <a:pPr marL="182880" indent="-182880" algn="l">
              <a:spcBef>
                <a:spcPts val="700"/>
              </a:spcBef>
              <a:buFont typeface="Arial" pitchFamily="34" charset="0"/>
              <a:buChar char="•"/>
            </a:pPr>
            <a:r>
              <a:rPr lang="en-US" sz="1400" dirty="0" b="0" u="none">
                <a:latin typeface="Arial" pitchFamily="34" charset="0"/>
                <a:cs typeface="Arial" pitchFamily="34" charset="0"/>
              </a:rPr>
              <a:t>Certificate: CBOR, zlib, Ed25519 signature and base45 QR, following the approach India already uses for DIVOC and CoWIN credentials.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Technova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8458200" cy="1051560"/>
          </a:xfrm>
        </p:spPr>
        <p:txBody>
          <a:bodyPr/>
          <a:lstStyle/>
          <a:p>
            <a:pPr eaLnBrk="1" hangingPunct="1" marL="0" indent="0" algn="l">
              <a:buNone/>
            </a:pPr>
            <a:r>
              <a:rPr lang="en-US" sz="3400" b="1" dirty="0" u="none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66928" y="1417320"/>
            <a:ext cx="5358384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lang="en-US" sz="1900" dirty="0" b="1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Why it is feasible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 hardware requirement is a phone the workforce already owns — no headset purchase, no ARCore certification, no data plan.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 release APK builds today, with 189 automated tests covering projection mathematics, environment detection, adaptive assessment and certificate cryptography.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Nothing in the design needs a cloud contract or a per-site recurring cost: records move as signed files, and the planned supervisor dashboard is a laptop on a local hotspot.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Fits existing statutory practice under the Mines Act 1952 and the Factories Act 1948 rather than asking regulators to adopt something new.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7410" name="TextBox 8 Right"/>
          <p:cNvSpPr txBox="1">
            <a:spLocks noChangeArrowheads="1"/>
          </p:cNvSpPr>
          <p:nvPr/>
        </p:nvSpPr>
        <p:spPr bwMode="auto">
          <a:xfrm>
            <a:off x="6263640" y="1417320"/>
            <a:ext cx="5358384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lang="en-US" sz="1900" dirty="0" b="1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Risks, and how they are handled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Magnetic interference underground — handled by magnetometer-free sensor fusion, chosen for exactly this reason.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Rotation-only tracking rather than SLAM — drills are designed around looking around, and the simulated gallery is fitted to the measured room so nothing is placed inside a real wall.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Santali is a low-resource language — every translated string is badged for native review with a Hindi fallback before it is shown, so no unverified safety wording is ever presented as authoritative.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Device fragmentation — an in-app diagnostics screen reads Android’s own process-exit records, so a fault at a remote site is diagnosable without a laptop.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Falsified training records — every entry is signed by the device key and counter-signed by the organisation before a certificate counts as verified.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Technova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8458200" cy="1051560"/>
          </a:xfrm>
        </p:spPr>
        <p:txBody>
          <a:bodyPr/>
          <a:lstStyle/>
          <a:p>
            <a:pPr eaLnBrk="1" hangingPunct="1" marL="0" indent="0" algn="l">
              <a:buNone/>
            </a:pPr>
            <a:r>
              <a:rPr lang="en-US" sz="3400" b="1" dirty="0" u="none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66928" y="1417320"/>
            <a:ext cx="5358384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Impact</a:t>
            </a: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Jharkhand’s coal, steel and mica workforce — hundreds of thousands of workers, many of them young tribal recruits with no prior industrial exposure.</a:t>
            </a: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DGMS Dhanbad recorded 48 fatal mine accidents in Jharkhand in 2022–23, a large share involving workers with under 30 days of orientation.</a:t>
            </a: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Classroom training on static manuals retains under 20% after one week; practising the drill with visible consequences targets exactly that gap.</a:t>
            </a: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Signed records carry each worker’s days-since-induction, so the under-30-day cohort can be surfaced by name and acted on before an accident rather than after.</a:t>
            </a:r>
          </a:p>
        </p:txBody>
      </p:sp>
      <p:sp>
        <p:nvSpPr>
          <p:cNvPr id="17410" name="TextBox 8 Right"/>
          <p:cNvSpPr txBox="1">
            <a:spLocks noChangeArrowheads="1"/>
          </p:cNvSpPr>
          <p:nvPr/>
        </p:nvSpPr>
        <p:spPr bwMode="auto">
          <a:xfrm>
            <a:off x="6263640" y="1417320"/>
            <a:ext cx="5358384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Benefits</a:t>
            </a: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Social — audio-first delivery, with translation into the worker’s own language, reaching the contract labour that headset programmes exclude entirely.</a:t>
            </a: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Economic — effectively no marginal cost per worker trained; avoided accidents reduce compensation, downtime and lost production.</a:t>
            </a: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Regulatory — certification that evidences comprehension rather than attendance, and that an inspector can verify offline at the pit head.</a:t>
            </a: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Environmental — no headset hardware to manufacture, ship, power or dispose of.</a:t>
            </a: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Scale — works for the small mines and contractors that could never fund a simulator room, which is where the orientation gap is widest.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Technova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91440"/>
            <a:ext cx="8458200" cy="1051560"/>
          </a:xfrm>
        </p:spPr>
        <p:txBody>
          <a:bodyPr/>
          <a:lstStyle/>
          <a:p>
            <a:pPr eaLnBrk="1" hangingPunct="1" marL="0" indent="0" algn="l">
              <a:buNone/>
            </a:pPr>
            <a:r>
              <a:rPr lang="en-US" sz="3400" b="1" dirty="0" u="none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66928" y="1417320"/>
            <a:ext cx="5358384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lang="en-US" sz="1900" noProof="0" dirty="0" b="1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Statutory and domain sources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noProof="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Directorate General of Mines Safety, Dhanbad — annual statistics of mine accidents and standard notes on causation.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noProof="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 Mines Act 1952, the Mines Rules 1955 and the Mines Vocational Training Rules 1966 — periodic training and certification obligations.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noProof="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 Factories Act 1948 — safety training duties for steel and manufacturing units.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noProof="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DGMS circulars on confined-space entry, gas testing, and support of roof and sides.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noProof="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ISO 7010 — registered safety signs, followed for every pictogram in the app.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7410" name="TextBox 8 Right"/>
          <p:cNvSpPr txBox="1">
            <a:spLocks noChangeArrowheads="1"/>
          </p:cNvSpPr>
          <p:nvPr/>
        </p:nvSpPr>
        <p:spPr bwMode="auto">
          <a:xfrm>
            <a:off x="6263640" y="1417320"/>
            <a:ext cx="5358384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lang="en-US" sz="1900" noProof="0" dirty="0" b="1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Technical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9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noProof="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S. Madgwick, An efficient orientation filter for inertial and inertial/magnetic sensor arrays, 2010 — basis of the fallback pose filter.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noProof="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DIVOC and CoWIN verifiable credential design, Government of India — model for the offline-verifiable QR certificate.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noProof="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RFC 8032 (Ed25519 signatures), RFC 8949 (CBOR) and Base45 encoding for compact QR payloads.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noProof="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Google ML Kit — on-device barcode scanning, used with no network dependency.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182880" marR="0" lvl="0" indent="-182880" algn="l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400" noProof="0" dirty="0" b="0" u="none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Project source and build: github.com/sriram4n/surakshaar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00"/>
              <a:t>Technova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Sriram N</cp:lastModifiedBy>
  <cp:revision>149</cp:revision>
  <dcterms:created xsi:type="dcterms:W3CDTF">2013-12-12T18:46:50Z</dcterms:created>
  <dcterms:modified xsi:type="dcterms:W3CDTF">2026-09-10T12:52:16Z</dcterms:modified>
  <cp:category/>
</cp:coreProperties>
</file>